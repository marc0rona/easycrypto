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73" r:id="rId6"/>
    <p:sldId id="274" r:id="rId7"/>
    <p:sldId id="260" r:id="rId8"/>
    <p:sldId id="261" r:id="rId9"/>
    <p:sldId id="262" r:id="rId10"/>
    <p:sldId id="263" r:id="rId11"/>
    <p:sldId id="275" r:id="rId12"/>
    <p:sldId id="264" r:id="rId13"/>
    <p:sldId id="276" r:id="rId14"/>
    <p:sldId id="265" r:id="rId15"/>
    <p:sldId id="266" r:id="rId16"/>
    <p:sldId id="267" r:id="rId17"/>
    <p:sldId id="277" r:id="rId18"/>
    <p:sldId id="278" r:id="rId19"/>
    <p:sldId id="279" r:id="rId20"/>
    <p:sldId id="268" r:id="rId21"/>
    <p:sldId id="280" r:id="rId22"/>
    <p:sldId id="269" r:id="rId23"/>
    <p:sldId id="282" r:id="rId24"/>
    <p:sldId id="281" r:id="rId25"/>
    <p:sldId id="270" r:id="rId26"/>
    <p:sldId id="271" r:id="rId27"/>
    <p:sldId id="272" r:id="rId2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45" d="100"/>
          <a:sy n="145" d="100"/>
        </p:scale>
        <p:origin x="87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6013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8148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0143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123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6249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5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2246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6498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572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187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181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61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49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64008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892A4"/>
                </a:solidFill>
              </a:rPr>
              <a:t>SOUTENANCE DE PROJET DE FIN D'ÉTUDES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1005840"/>
            <a:ext cx="8631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</a:rPr>
              <a:t>EZ-CRYPT0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" y="239572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2E8F0"/>
                </a:solidFill>
              </a:rPr>
              <a:t>Centraliser, organiser et sécuriser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E2E8F0"/>
                </a:solidFill>
              </a:rPr>
              <a:t>vos adresses crypto publiques.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3328416"/>
            <a:ext cx="164592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3511296"/>
            <a:ext cx="2084832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35112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</a:rPr>
              <a:t>React + TypeScript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3511296"/>
            <a:ext cx="2084832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35112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Node.js + Express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3511296"/>
            <a:ext cx="2084832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35112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</a:rPr>
              <a:t>PostgreSQL + Prisma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94576" y="3511296"/>
            <a:ext cx="2084832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86016" y="35112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Chrome MV3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" y="466344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Collège LaSalle · Montréal  |  Développement Full-Stack &amp; Extension Chrome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6B6B"/>
                </a:solidFill>
              </a:rPr>
              <a:t>PROBLÈME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8631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Une gestion crypto chaotique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56032" y="13898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</a:rPr>
              <a:t>Des adresses dispersées partout — aucune organisation centralisée.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920240"/>
            <a:ext cx="2816352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965960"/>
            <a:ext cx="2816352" cy="2514600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20299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3192" y="259689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Plusieurs réseaux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" y="298094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Adresses sur différentes blockchains, aucun outil unique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920240"/>
            <a:ext cx="2816352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1965960"/>
            <a:ext cx="2816352" cy="2514600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55848" y="20299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55848" y="259689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Perte de temps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298094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Recherche dans notes, screenshots, historiques de navigation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920240"/>
            <a:ext cx="2816352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81344" y="1965960"/>
            <a:ext cx="2816352" cy="2514600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18504" y="20299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18504" y="259689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Risque d'erreur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18504" y="298094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Mauvaise adresse = fonds définitivement perdus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4617720"/>
            <a:ext cx="8631936" cy="310896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4617720"/>
            <a:ext cx="8375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6B"/>
                </a:solidFill>
              </a:rPr>
              <a:t>💬  La dispersion des adresses coûte du temps, crée des erreurs et nuit à la sécurité.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C63FF"/>
                </a:solidFill>
              </a:rPr>
              <a:t>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86319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EZ-CRYPT0 — une plateforme unique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" y="1508760"/>
            <a:ext cx="2816352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554480"/>
            <a:ext cx="2816352" cy="1581912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6093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" y="212140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AA"/>
                </a:solidFill>
              </a:rPr>
              <a:t>Gagner du temps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46888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Recherche et réutilisation rapide des adresses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816352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554480"/>
            <a:ext cx="2816352" cy="1581912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6093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55848" y="212140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63FF"/>
                </a:solidFill>
              </a:rPr>
              <a:t>Réduire les erreurs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46888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Une seule source de vérité, bien organisée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508760"/>
            <a:ext cx="2816352" cy="4572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81344" y="1554480"/>
            <a:ext cx="2816352" cy="1581912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18504" y="16093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18504" y="212140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</a:rPr>
              <a:t>Clarté totale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246888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Chaque adresse = réseau + usage + contexte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3310128"/>
            <a:ext cx="8631936" cy="329184"/>
          </a:xfrm>
          <a:prstGeom prst="rect">
            <a:avLst/>
          </a:prstGeom>
          <a:solidFill>
            <a:srgbClr val="0A0A2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33101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</a:rPr>
              <a:t>Ce que fait EZ-CRYPT0 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70048" y="331012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Création de comptes · Auth · Gestion des rôles · CRUD adresses · Extension Chrome + synchronisation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712464"/>
            <a:ext cx="8631936" cy="329184"/>
          </a:xfrm>
          <a:prstGeom prst="rect">
            <a:avLst/>
          </a:prstGeom>
          <a:solidFill>
            <a:srgbClr val="1A0A0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7124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Hors périmètre 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12848" y="3712464"/>
            <a:ext cx="6492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Clés privées · Transactions · Intégration blockchain · Soldes · Version mobile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206240"/>
            <a:ext cx="2377440" cy="347472"/>
          </a:xfrm>
          <a:prstGeom prst="rect">
            <a:avLst/>
          </a:prstGeom>
          <a:solidFill>
            <a:srgbClr val="1A104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4206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</a:rPr>
              <a:t>🌐  Application Web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4206240"/>
            <a:ext cx="2377440" cy="347472"/>
          </a:xfrm>
          <a:prstGeom prst="rect">
            <a:avLst/>
          </a:prstGeom>
          <a:solidFill>
            <a:srgbClr val="001A14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26080" y="4206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🧩  Extension Chrome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EZ-CRYPT0 combine une app web et une extension Chrome — sans jamais exposer de données sensibles.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D4AA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5 blocs, 1 système modulaire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56032" y="1481328"/>
            <a:ext cx="2816352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527048"/>
            <a:ext cx="2816352" cy="1307592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591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" y="20482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63FF"/>
                </a:solidFill>
              </a:rPr>
              <a:t>Frontend Web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3957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React + TypeScript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81328"/>
            <a:ext cx="2816352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527048"/>
            <a:ext cx="2816352" cy="1307592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591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37560" y="20482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AA"/>
                </a:solidFill>
              </a:rPr>
              <a:t>Backend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3957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Node.js + Express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1481328"/>
            <a:ext cx="2816352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44768" y="1527048"/>
            <a:ext cx="2816352" cy="1307592"/>
          </a:xfrm>
          <a:prstGeom prst="rect">
            <a:avLst/>
          </a:prstGeom>
          <a:solidFill>
            <a:srgbClr val="141726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81928" y="1591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81928" y="20482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</a:rPr>
              <a:t>Base de données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23957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PostgreSQL + Prisma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82496" y="2980944"/>
            <a:ext cx="2816352" cy="4572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82496" y="3026664"/>
            <a:ext cx="2816352" cy="1307592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19656" y="30906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819656" y="35478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</a:rPr>
              <a:t>Extension Chrome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19656" y="38953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Manifest V3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26864" y="2980944"/>
            <a:ext cx="2816352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26864" y="3026664"/>
            <a:ext cx="2816352" cy="1307592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64024" y="30906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64024" y="35478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</a:rPr>
              <a:t>Market API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64024" y="38953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Service /market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Chaque bloc a un rôle précis — interface, logique, persistance, navigateur, données de marché.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78BFA"/>
                </a:solidFill>
              </a:rPr>
              <a:t>RESPONSABILITÉS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Qui fait quoi 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2816352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2816352" cy="157276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4996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63FF"/>
                </a:solidFill>
              </a:rPr>
              <a:t>⚛️  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892808"/>
            <a:ext cx="2542032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Affichage &amp; navigation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Formulaires &amp; tableaux de bord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Appels vers l'API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816352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44752"/>
            <a:ext cx="2816352" cy="157276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4996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⚙️  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892808"/>
            <a:ext cx="2542032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Logique métier &amp; auth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Validation &amp; rôles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CRUD adresses &amp; comptes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1389888"/>
            <a:ext cx="2816352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1444752"/>
            <a:ext cx="2816352" cy="157276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81928" y="14996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</a:rPr>
              <a:t>🗄️  Base de données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1892808"/>
            <a:ext cx="2542032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Persistance : User, CryptoAddress, AdminLog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Accès via Prisma uniquement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82496" y="3264408"/>
            <a:ext cx="2816352" cy="54864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82496" y="3319272"/>
            <a:ext cx="2816352" cy="157276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19656" y="337413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</a:rPr>
              <a:t>🧩  Extension Chrome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19656" y="3767328"/>
            <a:ext cx="2542032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Content Script : détection DOM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Background : session + appels API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Popup : UI de l'extension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26864" y="3264408"/>
            <a:ext cx="2816352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26864" y="3319272"/>
            <a:ext cx="2816352" cy="157276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64024" y="337413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📈  Market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64024" y="3767328"/>
            <a:ext cx="2542032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Récupère &amp; cache les données de marché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Expose via /market (séparé du backend)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Chaque couche a une responsabilité unique — aucun bloc n'empiète sur le rôle d'un autre.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D700"/>
                </a:solidFill>
              </a:rPr>
              <a:t>JUSTIFICATION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Pourquoi cette architecture 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73152" cy="82296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" y="1389888"/>
            <a:ext cx="8558784" cy="82296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38988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1444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C63FF"/>
                </a:solidFill>
              </a:rPr>
              <a:t>Maintenabilité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17922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</a:rPr>
              <a:t>Chaque couche peut être modifiée indépendamment sans impacter les autres.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2441448"/>
            <a:ext cx="73152" cy="8229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" y="2441448"/>
            <a:ext cx="8558784" cy="82296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244144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24963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4AA"/>
                </a:solidFill>
              </a:rPr>
              <a:t>Lisibilité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8437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</a:rPr>
              <a:t>Les responsabilités sont clairement distribuées — routes, contrôleurs, services, Prisma.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3493008"/>
            <a:ext cx="73152" cy="8229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9184" y="3493008"/>
            <a:ext cx="8558784" cy="82296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349300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4128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6B"/>
                </a:solidFill>
              </a:rPr>
              <a:t>Évolutivité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38953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</a:rPr>
              <a:t>Ajouter une fonctionnalité ne casse pas le système existant.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4297680"/>
            <a:ext cx="8631936" cy="347472"/>
          </a:xfrm>
          <a:prstGeom prst="rect">
            <a:avLst/>
          </a:prstGeom>
          <a:solidFill>
            <a:srgbClr val="1A14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429768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D700"/>
                </a:solidFill>
              </a:rPr>
              <a:t>🧩  Extension : le Background centralisé unifie messages, session et appels API — principe du point de contrôle unique.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L'architecture en couches garantit un système maintenable, lisible et prêt à évoluer.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D4AA"/>
                </a:solidFill>
              </a:rPr>
              <a:t>FLUX DE COMMUNICATION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Comment les composants dialoguent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0" y="1874520"/>
            <a:ext cx="2194560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194560" cy="731520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19476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⚙️  Backend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/api/v1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3218688"/>
            <a:ext cx="2103120" cy="658368"/>
          </a:xfrm>
          <a:prstGeom prst="rect">
            <a:avLst/>
          </a:prstGeom>
          <a:solidFill>
            <a:srgbClr val="12082A"/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321868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🗄️  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+ Prisma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0" cy="566928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201168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2011680" cy="658368"/>
          </a:xfrm>
          <a:prstGeom prst="rect">
            <a:avLst/>
          </a:prstGeom>
          <a:solidFill>
            <a:srgbClr val="100A30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199339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</a:rPr>
              <a:t>⚛️  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</a:rPr>
              <a:t>React / 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249424"/>
            <a:ext cx="100584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2032" y="18288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REST /api/v1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37960" y="1243584"/>
            <a:ext cx="2331720" cy="274320"/>
          </a:xfrm>
          <a:prstGeom prst="rect">
            <a:avLst/>
          </a:prstGeom>
          <a:solidFill>
            <a:srgbClr val="1A12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1243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</a:rPr>
              <a:t>🧩 Extension Chrome MV3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1572768"/>
            <a:ext cx="2240280" cy="548640"/>
          </a:xfrm>
          <a:prstGeom prst="rect">
            <a:avLst/>
          </a:prstGeom>
          <a:solidFill>
            <a:srgbClr val="1A1200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0" y="1572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</a:rPr>
              <a:t>🖼️  Popup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212848"/>
            <a:ext cx="2240280" cy="548640"/>
          </a:xfrm>
          <a:prstGeom prst="rect">
            <a:avLst/>
          </a:prstGeom>
          <a:solidFill>
            <a:srgbClr val="1A1200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0" y="22128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🔄  Background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2852928"/>
            <a:ext cx="2240280" cy="548640"/>
          </a:xfrm>
          <a:prstGeom prst="rect">
            <a:avLst/>
          </a:prstGeom>
          <a:solidFill>
            <a:srgbClr val="1A1200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0" y="28529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🔍  Content Script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99248" y="2121408"/>
            <a:ext cx="0" cy="91440"/>
          </a:xfrm>
          <a:prstGeom prst="line">
            <a:avLst/>
          </a:prstGeom>
          <a:noFill/>
          <a:ln w="1524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83680" y="2487168"/>
            <a:ext cx="0" cy="0"/>
          </a:xfrm>
          <a:prstGeom prst="line">
            <a:avLst/>
          </a:prstGeom>
          <a:noFill/>
          <a:ln w="1524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99248" y="2852928"/>
            <a:ext cx="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694176"/>
            <a:ext cx="2011680" cy="566928"/>
          </a:xfrm>
          <a:prstGeom prst="rect">
            <a:avLst/>
          </a:prstGeom>
          <a:solidFill>
            <a:srgbClr val="200A0A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69417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</a:rPr>
              <a:t>📈  Market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</a:rPr>
              <a:t>API /market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2624328"/>
            <a:ext cx="0" cy="1069848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Popup → Background → Backend. Content Script → Background. Frontend / Popup → Market API.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78BFA"/>
                </a:solidFill>
              </a:rPr>
              <a:t>MODÈLE DE DONNÉES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3 entités · 4 enums · 1 logique métier encodée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468880" cy="347472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0F1A"/>
                </a:solidFill>
              </a:rPr>
              <a:t>User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645920"/>
            <a:ext cx="2468880" cy="1975104"/>
          </a:xfrm>
          <a:prstGeom prst="rect">
            <a:avLst/>
          </a:prstGeom>
          <a:solidFill>
            <a:srgbClr val="100A3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645920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63FF"/>
                </a:solidFill>
              </a:rPr>
              <a:t>PK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75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email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197510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63FF"/>
                </a:solidFill>
              </a:rPr>
              <a:t>unique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username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304288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63FF"/>
                </a:solidFill>
              </a:rPr>
              <a:t>unique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role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6334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63FF"/>
                </a:solidFill>
              </a:rPr>
              <a:t>Role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9626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962656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63FF"/>
                </a:solidFill>
              </a:rPr>
              <a:t>Status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291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password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24912" y="2468880"/>
            <a:ext cx="25603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61488" y="14813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1..n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81835" y="256032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6B6B"/>
                </a:solidFill>
              </a:rPr>
              <a:t>onDelete: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6B6B"/>
                </a:solidFill>
              </a:rPr>
              <a:t>Cascade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1298448"/>
            <a:ext cx="2651760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0F1A"/>
                </a:solidFill>
              </a:rPr>
              <a:t>CryptoAddress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17520" y="1645920"/>
            <a:ext cx="2651760" cy="1975104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27248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15968" y="164592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D4AA"/>
                </a:solidFill>
              </a:rPr>
              <a:t>PK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27248" y="1975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address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27248" y="23042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type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15968" y="230428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D4AA"/>
                </a:solidFill>
              </a:rPr>
              <a:t>CryptoType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27248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direction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15968" y="263347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D4AA"/>
                </a:solidFill>
              </a:rPr>
              <a:t>AddressDir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27248" y="29626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label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15968" y="296265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D4AA"/>
                </a:solidFill>
              </a:rPr>
              <a:t>optional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27248" y="3291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userId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15968" y="329184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D4AA"/>
                </a:solidFill>
              </a:rPr>
              <a:t>FK → User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17520" y="3694176"/>
            <a:ext cx="2651760" cy="310896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08960" y="36941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AA"/>
                </a:solidFill>
              </a:rPr>
              <a:t>🔒  Unique : userId + address + type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25312" y="1298448"/>
            <a:ext cx="2962656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925312" y="1344168"/>
            <a:ext cx="2962656" cy="795528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3504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63FF"/>
                </a:solidFill>
              </a:rPr>
              <a:t>enum  Role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1737360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89904" y="173736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USER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35040" y="1956816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89904" y="195681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ADMIN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25312" y="2231136"/>
            <a:ext cx="2962656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25312" y="2276856"/>
            <a:ext cx="2962656" cy="795528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35040" y="23225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</a:rPr>
              <a:t>enum  Status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35040" y="2670048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89904" y="267004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ACTIVE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35040" y="2889504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89904" y="288950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DISABLED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3108960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089904" y="310896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BANNED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25312" y="3163824"/>
            <a:ext cx="2962656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925312" y="3209544"/>
            <a:ext cx="2962656" cy="795528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035040" y="3255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AA"/>
                </a:solidFill>
              </a:rPr>
              <a:t>enum  AddressDirection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35040" y="3602736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089904" y="36027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RECEIVING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35040" y="3822192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089904" y="382219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SENDING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25312" y="4096512"/>
            <a:ext cx="2962656" cy="4572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925312" y="4142232"/>
            <a:ext cx="2962656" cy="795528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035040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</a:rPr>
              <a:t>enum  CryptoType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035040" y="4535424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089904" y="453542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BTC ETH SOL LTC DOGE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35040" y="4754880"/>
            <a:ext cx="2743200" cy="18288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089904" y="475488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XRP ADA TON DOT TRX ATOM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La base de données ne stocke pas seulement des données — elle encode et protège la logique métier.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D4AA"/>
                </a:solidFill>
              </a:rPr>
              <a:t>BACKEND REST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Routes → Controllers → Services → Prisma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2084832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084832" cy="1124712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🛣️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94767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</a:rPr>
              <a:t>Routes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2585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Endpoints + middlewares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40864" y="1911096"/>
            <a:ext cx="128016" cy="0"/>
          </a:xfrm>
          <a:prstGeom prst="line">
            <a:avLst/>
          </a:prstGeom>
          <a:noFill/>
          <a:ln w="1524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68880" y="1325880"/>
            <a:ext cx="2084832" cy="4572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8880" y="1371600"/>
            <a:ext cx="2084832" cy="1124712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78608" y="1435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🎛️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78608" y="194767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</a:rPr>
              <a:t>Controllers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8608" y="22585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Reçoit HTTP, délègue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53712" y="1911096"/>
            <a:ext cx="128016" cy="0"/>
          </a:xfrm>
          <a:prstGeom prst="line">
            <a:avLst/>
          </a:prstGeom>
          <a:noFill/>
          <a:ln w="1524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81728" y="1325880"/>
            <a:ext cx="2084832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81728" y="1371600"/>
            <a:ext cx="2084832" cy="1124712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91456" y="1435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91456" y="194767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63FF"/>
                </a:solidFill>
              </a:rPr>
              <a:t>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91456" y="22585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Logique métier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911096"/>
            <a:ext cx="128016" cy="0"/>
          </a:xfrm>
          <a:prstGeom prst="line">
            <a:avLst/>
          </a:prstGeom>
          <a:noFill/>
          <a:ln w="1524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94576" y="1325880"/>
            <a:ext cx="2084832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94576" y="1371600"/>
            <a:ext cx="2084832" cy="1124712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04304" y="1435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04304" y="194767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AA"/>
                </a:solidFill>
              </a:rPr>
              <a:t>Prisma / DB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04304" y="22585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Accès données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2651760"/>
            <a:ext cx="2816352" cy="32918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265176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F1A"/>
                </a:solidFill>
              </a:rPr>
              <a:t>/api/v1/auth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032" y="2980944"/>
            <a:ext cx="2816352" cy="1737360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05409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POST /register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383280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POST /login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712464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POST /refresh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04164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GET /me · PATCH /me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370832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PATCH /me/password · POST /logout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18688" y="2651760"/>
            <a:ext cx="2816352" cy="32918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10128" y="265176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F1A"/>
                </a:solidFill>
              </a:rPr>
              <a:t>/api/v1/addresses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18688" y="2980944"/>
            <a:ext cx="2816352" cy="1408176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28416" y="305409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GET /  (liste)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28416" y="3383280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POST / (créer)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28416" y="3712464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POST /extension (Chrome)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28416" y="404164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PATCH /:id · DELETE /:id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81344" y="2651760"/>
            <a:ext cx="2816352" cy="3291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72784" y="265176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F1A"/>
                </a:solidFill>
              </a:rPr>
              <a:t>/api/v1/admin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81344" y="2980944"/>
            <a:ext cx="2816352" cy="1408176"/>
          </a:xfrm>
          <a:prstGeom prst="rect">
            <a:avLst/>
          </a:prstGeom>
          <a:solidFill>
            <a:srgbClr val="14172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91072" y="3054096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GET /users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91072" y="3383280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POST /users (créer admin)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91072" y="3712464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PATCH /users/:id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91072" y="404164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· PATCH /users/:id/status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3 modules versionnés sous /api/v1 — chaque couche a une responsabilité unique, la logique métier est dans les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6B6B"/>
                </a:solidFill>
              </a:rPr>
              <a:t>SÉCURITÉ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La sécurité est une responsabilité backend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64008" cy="1353312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752344" cy="1353312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" y="192024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63FF"/>
                </a:solidFill>
              </a:rPr>
              <a:t>JWT + cookie httpOnly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226771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Access token via header Authorization · Refresh token en cookie httpOnly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1353312"/>
            <a:ext cx="64008" cy="135331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82696" y="1353312"/>
            <a:ext cx="2752344" cy="1353312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requireRole (ADMIN)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26771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Middleware serveur — jamais confiance au frontend pour les permissions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353312"/>
            <a:ext cx="64008" cy="135331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45352" y="1353312"/>
            <a:ext cx="2752344" cy="1353312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5936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5936" y="192024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Validation Zod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5936" y="226771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Chaque requête validée avant le controller via middleware validateBody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862072"/>
            <a:ext cx="64008" cy="1353312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862072"/>
            <a:ext cx="2752344" cy="1353312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0624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20624" y="342900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</a:rPr>
              <a:t>express-rate-limit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" y="37764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Limite les abus de requêtes — protection brute force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18688" y="2862072"/>
            <a:ext cx="64008" cy="135331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82696" y="2862072"/>
            <a:ext cx="2752344" cy="1353312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383280" y="342900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</a:rPr>
              <a:t>Helmet + CORS contrôlé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37764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Headers HTTP sécurisés + origines autorisées (webapp + extensions Chrome)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81344" y="2862072"/>
            <a:ext cx="64008" cy="135331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45352" y="2862072"/>
            <a:ext cx="2752344" cy="1353312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45936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45936" y="342900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</a:rPr>
              <a:t>Gestion centralisée erreurs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45936" y="37764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AppError → middleware global → réponse HTTP cohérente et prévisible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Auth multi-niveaux : JWT + cookie httpOnly + requireRole + Zod + rate-limit + Helmet.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C63FF"/>
                </a:solidFill>
              </a:rPr>
              <a:t>FRONTEND WEB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Pages, Layouts, Composants, Routes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2084832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2084832" cy="3127248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9961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63FF"/>
                </a:solidFill>
              </a:rPr>
              <a:t>📄  Pages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93852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LandingPage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25856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LoginPage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57860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RegisterPage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9864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89864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DashboardPage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1868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321868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AddressesPage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3872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53872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ProfilePage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385876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AdminDashboardPage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417880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UsersPage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24281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Écrans fonctionnels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68880" y="1389888"/>
            <a:ext cx="2084832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68880" y="1444752"/>
            <a:ext cx="2084832" cy="3127248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78608" y="149961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AA"/>
                </a:solidFill>
              </a:rPr>
              <a:t>🖼️  Layouts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78608" y="193852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193852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PublicLayout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78608" y="225856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51760" y="225856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DashboardLayout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78608" y="257860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51760" y="257860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AdminLayout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78608" y="424281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Cadre visuel par zone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81728" y="1389888"/>
            <a:ext cx="2084832" cy="54864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81728" y="1444752"/>
            <a:ext cx="2084832" cy="3127248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91456" y="149961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</a:rPr>
              <a:t>🧩  Composants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91456" y="193852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193852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Button, Input, Loader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91456" y="225856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64608" y="225856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Modal, ConfirmDialog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91456" y="257860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64608" y="257860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ErrorState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91456" y="289864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64608" y="289864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UpdateNameForm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91456" y="321868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64608" y="321868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ChangePasswordForm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91456" y="353872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64608" y="353872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AdminUsersWorkspace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91456" y="424281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Briques réutilisables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94576" y="1389888"/>
            <a:ext cx="2084832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894576" y="1444752"/>
            <a:ext cx="2084832" cy="3127248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004304" y="149961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</a:rPr>
              <a:t>🛣️  Routes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004304" y="193852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077456" y="193852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ProtectedRoute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04304" y="225856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77456" y="225856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AdminRoute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04304" y="257860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077456" y="257860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Axios client centralisé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04304" y="2898648"/>
            <a:ext cx="1865376" cy="265176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077456" y="289864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auth.api / address.api / admin.api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004304" y="424281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Navigation &amp; API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Structure claire — chaque dossier a un rôle unique, le frontend reste lisible et maintenable.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C63FF"/>
                </a:solidFill>
              </a:rPr>
              <a:t>FRONTEND &amp; SÉPARATION DES RÔLES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3 espaces, 2 garde-fous, 1 AuthContext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2816352" cy="365760"/>
          </a:xfrm>
          <a:prstGeom prst="rect">
            <a:avLst/>
          </a:prstGeom>
          <a:solidFill>
            <a:srgbClr val="8892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</a:rPr>
              <a:t>🌐  Public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691640"/>
            <a:ext cx="2816352" cy="2560320"/>
          </a:xfrm>
          <a:prstGeom prst="rect">
            <a:avLst/>
          </a:prstGeom>
          <a:solidFill>
            <a:srgbClr val="111218"/>
          </a:solidFill>
          <a:ln w="12700">
            <a:solidFill>
              <a:srgbClr val="8892A4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3192" y="18288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18288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LandingPage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" y="22860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22860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LoginPage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" y="27432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7432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RegisterPage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4"/>
                </a:solidFill>
              </a:rPr>
              <a:t>Visiteurs non authentifiés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1325880"/>
            <a:ext cx="2816352" cy="36576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28416" y="132588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0F1A"/>
                </a:solidFill>
              </a:rPr>
              <a:t>👤  Utilisateur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18688" y="1691640"/>
            <a:ext cx="2816352" cy="2560320"/>
          </a:xfrm>
          <a:prstGeom prst="rect">
            <a:avLst/>
          </a:prstGeom>
          <a:solidFill>
            <a:srgbClr val="100A30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55848" y="18288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18288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DashboardPage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55848" y="22860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22860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AddressesPage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55848" y="27432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0" y="27432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ProfilePage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396392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63FF"/>
                </a:solidFill>
              </a:rPr>
              <a:t>Session requise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81344" y="1325880"/>
            <a:ext cx="2816352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91072" y="132588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0F1A"/>
                </a:solidFill>
              </a:rPr>
              <a:t>🛡️  Admin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89028" y="1691640"/>
            <a:ext cx="2816352" cy="2560320"/>
          </a:xfrm>
          <a:prstGeom prst="rect">
            <a:avLst/>
          </a:prstGeom>
          <a:solidFill>
            <a:srgbClr val="200A0A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18504" y="18288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37376" y="18288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AdminDashboardPage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18504" y="22860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37376" y="22860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UsersPage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18504" y="2743200"/>
            <a:ext cx="2542032" cy="365760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37376" y="27432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AdminProfilePage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18504" y="396173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6B"/>
                </a:solidFill>
              </a:rPr>
              <a:t>Rôle ADMIN requis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4407408"/>
            <a:ext cx="8631936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84048" y="4407408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🔐  AuthContext — source de vérité unique : user · isAuthenticated · login() · logout() · fetchCurrentUser() · Cookies httpOnly, pas de localStorage.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Le frontend reflète les règles d'accès du backend — il ne décide pas seul de l'autorisation métier.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D4AA"/>
                </a:solidFill>
              </a:rPr>
              <a:t>COMPOSANTS &amp; API CLIENT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Une couche intermédiaire, des composants réutilisés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8631936" cy="310896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🔌  Couche API — api/client.ts (Axios · baseURL · withCredentials: true)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682496"/>
            <a:ext cx="2816352" cy="329184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auth.api.ts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48256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  · login, register, logout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3042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  · me, updateMe, changePassword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682496"/>
            <a:ext cx="2816352" cy="329184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68249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address.api.ts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2048256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  · getAddresses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8416" y="23042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  · createAddress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28416" y="256032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  · updateAddress, deleteAddress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1682496"/>
            <a:ext cx="2816352" cy="329184"/>
          </a:xfrm>
          <a:prstGeom prst="rect">
            <a:avLst/>
          </a:prstGeom>
          <a:solidFill>
            <a:srgbClr val="14172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168249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</a:rPr>
              <a:t>admin.api.ts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2048256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  · getUsers, createAdmin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3042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  · updateUser, updateUserStatus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999232"/>
            <a:ext cx="8631936" cy="310896"/>
          </a:xfrm>
          <a:prstGeom prst="rect">
            <a:avLst/>
          </a:prstGeom>
          <a:solidFill>
            <a:srgbClr val="1A14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99923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</a:rPr>
              <a:t>♻️  Composants réutilisés entre espaces utilisateur &amp; admin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" y="3383280"/>
            <a:ext cx="4206240" cy="420624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" y="33832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63FF"/>
                </a:solidFill>
              </a:rPr>
              <a:t>UpdateNameForm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39112" y="33832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→  ProfilePage  +  AdminProfilePage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3383280"/>
            <a:ext cx="4206240" cy="420624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45736" y="33832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63FF"/>
                </a:solidFill>
              </a:rPr>
              <a:t>ChangePasswordForm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1656" y="33832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→  ProfilePage  +  AdminProfilePage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886200"/>
            <a:ext cx="4206240" cy="420624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" y="38862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</a:rPr>
              <a:t>AdminUsersWorkspace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39112" y="38862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→  AdminDashboardPage  +  UsersPage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08576" y="3886200"/>
            <a:ext cx="4206240" cy="420624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45736" y="38862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AA"/>
                </a:solidFill>
              </a:rPr>
              <a:t>FeedbackContext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91656" y="38862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→  Toute l'application (notifications)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La logique réseau est centralisée, les composants métier sont partagés — composition plutôt que duplication.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59E0B"/>
                </a:solidFill>
              </a:rPr>
              <a:t>EXTENSION CHROME MV3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Popup · Background · Content Script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2816352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816352" cy="3410712"/>
          </a:xfrm>
          <a:prstGeom prst="rect">
            <a:avLst/>
          </a:prstGeom>
          <a:solidFill>
            <a:srgbClr val="100A30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4173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C63FF"/>
                </a:solidFill>
              </a:rPr>
              <a:t>🖼️  Popup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" y="1984248"/>
            <a:ext cx="2542032" cy="237744"/>
          </a:xfrm>
          <a:prstGeom prst="rect">
            <a:avLst/>
          </a:prstGeom>
          <a:solidFill>
            <a:srgbClr val="0D0F1A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98424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</a:rPr>
              <a:t>Responsabilité unique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" y="231343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1343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Connexion / déconnexion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286207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6207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Affichage des adresses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" y="341071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41071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Ajout, modification, suppression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" y="395935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5935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Validation locale + confirmation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1325880"/>
            <a:ext cx="2816352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1371600"/>
            <a:ext cx="2816352" cy="3410712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55848" y="14173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4AA"/>
                </a:solidFill>
              </a:rPr>
              <a:t>🔄  Background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D4AA"/>
                </a:solidFill>
              </a:rPr>
              <a:t>Service Worker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55848" y="1984248"/>
            <a:ext cx="2542032" cy="237744"/>
          </a:xfrm>
          <a:prstGeom prst="rect">
            <a:avLst/>
          </a:prstGeom>
          <a:solidFill>
            <a:srgbClr val="0D0F1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01568" y="198424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Responsabilité unique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55848" y="231343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19856" y="231343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Reçoit tous les messages typés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55848" y="286207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19856" y="286207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Gère la session (authToken)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5848" y="341071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19856" y="341071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Centralise les appels API fetch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55848" y="395935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19856" y="395935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Stocke lastDetectedAddress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81344" y="1325880"/>
            <a:ext cx="2816352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81344" y="1371600"/>
            <a:ext cx="2816352" cy="3410712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18504" y="14173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🔍  Content Script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18504" y="1984248"/>
            <a:ext cx="2542032" cy="237744"/>
          </a:xfrm>
          <a:prstGeom prst="rect">
            <a:avLst/>
          </a:prstGeom>
          <a:solidFill>
            <a:srgbClr val="0D0F1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64224" y="198424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Responsabilité unique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18504" y="231343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82512" y="231343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S'exécute sur http / https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18504" y="286207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82512" y="286207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Parcourt les nœuds texte DOM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18504" y="341071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82512" y="341071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Détecte les adresses via regex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18504" y="3959352"/>
            <a:ext cx="2542032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82512" y="395935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· Envoie ADDRESS_DETECTED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" y="4645152"/>
            <a:ext cx="8631936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4048" y="4645152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🔑  Source de vérité unique : extension + web app partagent le même backend — une adresse sauvée depuis l'extension apparaît dans le dashboard web.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D700"/>
                </a:solidFill>
              </a:rPr>
              <a:t>WORKFLOW UTILISATEUR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De la connexion à la sauvegarde d'adresse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8631936" cy="274320"/>
          </a:xfrm>
          <a:prstGeom prst="rect">
            <a:avLst/>
          </a:prstGeom>
          <a:solidFill>
            <a:srgbClr val="1A14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</a:rPr>
              <a:t>🌐  Application Web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645920"/>
            <a:ext cx="1196558" cy="548640"/>
          </a:xfrm>
          <a:prstGeom prst="rect">
            <a:avLst/>
          </a:prstGeom>
          <a:solidFill>
            <a:srgbClr val="141726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1645920"/>
            <a:ext cx="11234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52590" y="1920240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89166" y="1645920"/>
            <a:ext cx="1196558" cy="548640"/>
          </a:xfrm>
          <a:prstGeom prst="rect">
            <a:avLst/>
          </a:prstGeom>
          <a:solidFill>
            <a:srgbClr val="141726"/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25742" y="1645920"/>
            <a:ext cx="11234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85723" y="1920240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22299" y="1645920"/>
            <a:ext cx="1196558" cy="548640"/>
          </a:xfrm>
          <a:prstGeom prst="rect">
            <a:avLst/>
          </a:prstGeom>
          <a:solidFill>
            <a:srgbClr val="14172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58875" y="1645920"/>
            <a:ext cx="11234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Add Address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18857" y="1920240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55433" y="1645920"/>
            <a:ext cx="1196558" cy="548640"/>
          </a:xfrm>
          <a:prstGeom prst="rect">
            <a:avLst/>
          </a:prstGeom>
          <a:solidFill>
            <a:srgbClr val="141726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92009" y="1645920"/>
            <a:ext cx="11234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</a:rPr>
              <a:t>+ doublon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51991" y="1920240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88567" y="1645920"/>
            <a:ext cx="1196558" cy="548640"/>
          </a:xfrm>
          <a:prstGeom prst="rect">
            <a:avLst/>
          </a:prstGeom>
          <a:solidFill>
            <a:srgbClr val="14172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25143" y="1645920"/>
            <a:ext cx="11234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Sauvegarde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85125" y="1920240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21701" y="1645920"/>
            <a:ext cx="1196558" cy="548640"/>
          </a:xfrm>
          <a:prstGeom prst="rect">
            <a:avLst/>
          </a:prstGeom>
          <a:solidFill>
            <a:srgbClr val="141726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58277" y="1645920"/>
            <a:ext cx="11234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Edit / Delete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18258" y="1920240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54834" y="1645920"/>
            <a:ext cx="1196558" cy="548640"/>
          </a:xfrm>
          <a:prstGeom prst="rect">
            <a:avLst/>
          </a:prstGeom>
          <a:solidFill>
            <a:srgbClr val="141726"/>
          </a:solidFill>
          <a:ln w="190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91410" y="1645920"/>
            <a:ext cx="11234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A4"/>
                </a:solidFill>
              </a:rPr>
              <a:t>Logout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2395728"/>
            <a:ext cx="8631936" cy="274320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395728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🧩  Extension Chrome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" y="2743200"/>
            <a:ext cx="1196558" cy="594360"/>
          </a:xfrm>
          <a:prstGeom prst="rect">
            <a:avLst/>
          </a:prstGeom>
          <a:solidFill>
            <a:srgbClr val="141726"/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2608" y="2743200"/>
            <a:ext cx="11234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63FF"/>
                </a:solidFill>
              </a:rPr>
              <a:t>Login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C63FF"/>
                </a:solidFill>
              </a:rPr>
              <a:t>popup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452590" y="3035808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489166" y="2743200"/>
            <a:ext cx="1196558" cy="594360"/>
          </a:xfrm>
          <a:prstGeom prst="rect">
            <a:avLst/>
          </a:prstGeom>
          <a:solidFill>
            <a:srgbClr val="141726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525742" y="2743200"/>
            <a:ext cx="11234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Content Script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détecte adresse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85723" y="3035808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22299" y="2743200"/>
            <a:ext cx="1196558" cy="594360"/>
          </a:xfrm>
          <a:prstGeom prst="rect">
            <a:avLst/>
          </a:prstGeom>
          <a:solidFill>
            <a:srgbClr val="141726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58875" y="2743200"/>
            <a:ext cx="11234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ADDRESS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DETECTED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18857" y="3035808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55433" y="2743200"/>
            <a:ext cx="1196558" cy="594360"/>
          </a:xfrm>
          <a:prstGeom prst="rect">
            <a:avLst/>
          </a:prstGeom>
          <a:solidFill>
            <a:srgbClr val="141726"/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92009" y="2743200"/>
            <a:ext cx="11234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63FF"/>
                </a:solidFill>
              </a:rPr>
              <a:t>Écran Save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C63FF"/>
                </a:solidFill>
              </a:rPr>
              <a:t>popup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51991" y="3035808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188567" y="2743200"/>
            <a:ext cx="1196558" cy="594360"/>
          </a:xfrm>
          <a:prstGeom prst="rect">
            <a:avLst/>
          </a:prstGeom>
          <a:solidFill>
            <a:srgbClr val="141726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225143" y="2743200"/>
            <a:ext cx="11234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</a:rPr>
              <a:t>Validation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</a:rPr>
              <a:t>locale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85125" y="3035808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421701" y="2743200"/>
            <a:ext cx="1196558" cy="594360"/>
          </a:xfrm>
          <a:prstGeom prst="rect">
            <a:avLst/>
          </a:prstGeom>
          <a:solidFill>
            <a:srgbClr val="14172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58277" y="2743200"/>
            <a:ext cx="11234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AA"/>
                </a:solidFill>
              </a:rPr>
              <a:t>SAVE_ADDRESS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D4AA"/>
                </a:solidFill>
              </a:rPr>
              <a:t>→ BG → API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618258" y="3035808"/>
            <a:ext cx="36576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654834" y="2743200"/>
            <a:ext cx="1196558" cy="594360"/>
          </a:xfrm>
          <a:prstGeom prst="rect">
            <a:avLst/>
          </a:prstGeom>
          <a:solidFill>
            <a:srgbClr val="141726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691410" y="2743200"/>
            <a:ext cx="11234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</a:rPr>
              <a:t>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</a:rPr>
              <a:t>web sync ✅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" y="3529584"/>
            <a:ext cx="8631936" cy="256032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" y="35295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Logique de validation 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377440" y="35295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Input → validateBody (Zod) → authenticate() → Service (normalise · vérifie type · format · doublons) → Prisma → HTTP 201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" y="3877056"/>
            <a:ext cx="8631936" cy="822960"/>
          </a:xfrm>
          <a:prstGeom prst="rect">
            <a:avLst/>
          </a:prstGeom>
          <a:solidFill>
            <a:srgbClr val="141726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4048" y="39319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🧪  Pattern AAA — compte DISABLED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84048" y="41879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</a:rPr>
              <a:t>Arrange : créer user DISABLED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566160" y="41879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</a:rPr>
              <a:t>Act : POST /auth/login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91072" y="4187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Assert : 403 + 'Account is disabled'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Le même backend garantit la cohérence entre la web app et l'extension Chrome.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78BFA"/>
                </a:solidFill>
              </a:rPr>
              <a:t>PATRONS DE CONCEPTION GOF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Command · Observer · State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2816352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816352" cy="3447288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417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6B"/>
                </a:solidFill>
              </a:rPr>
              <a:t>📨  Command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" y="1837944"/>
            <a:ext cx="2542032" cy="237744"/>
          </a:xfrm>
          <a:prstGeom prst="rect">
            <a:avLst/>
          </a:prstGeom>
          <a:solidFill>
            <a:srgbClr val="0D0F1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183794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⭐⭐⭐  Convaincant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216712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</a:rPr>
              <a:t>Encapsuler une action — séparer émetteur et exécuteur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" y="2642616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Messages typés : LOGIN · SAVE_ADDRESS · UPDATE · DELETE → dispatch central dans le Background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" y="3520440"/>
            <a:ext cx="2542032" cy="1188720"/>
          </a:xfrm>
          <a:prstGeom prst="rect">
            <a:avLst/>
          </a:prstGeom>
          <a:solidFill>
            <a:srgbClr val="0D0F1A"/>
          </a:solidFill>
          <a:ln w="12700">
            <a:solidFill>
              <a:srgbClr val="FF6B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3575304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6B6B"/>
                </a:solidFill>
              </a:rPr>
              <a:t>Ex : Popup envoie SAVE_ADDRESS → Background appelle POST /addresses/from-extension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18688" y="1325880"/>
            <a:ext cx="2816352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18688" y="1371600"/>
            <a:ext cx="2816352" cy="3447288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55848" y="1417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D4AA"/>
                </a:solidFill>
              </a:rPr>
              <a:t>👁️  Observer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55848" y="1837944"/>
            <a:ext cx="2542032" cy="237744"/>
          </a:xfrm>
          <a:prstGeom prst="rect">
            <a:avLst/>
          </a:prstGeom>
          <a:solidFill>
            <a:srgbClr val="0D0F1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47288" y="183794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⭐⭐⭐  Convaincant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216712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</a:rPr>
              <a:t>Un sujet notifie ses observateurs automatiquement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2642616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chrome.runtime.onMessage.addListener (BG observe les messages)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chrome.storage.onChanged.addListener (Popup observe la session)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5848" y="3520440"/>
            <a:ext cx="2542032" cy="1188720"/>
          </a:xfrm>
          <a:prstGeom prst="rect">
            <a:avLst/>
          </a:prstGeom>
          <a:solidFill>
            <a:srgbClr val="0D0F1A"/>
          </a:solidFill>
          <a:ln w="12700">
            <a:solidFill>
              <a:srgbClr val="00D4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01568" y="3575304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00D4AA"/>
                </a:solidFill>
              </a:rPr>
              <a:t>Ex : Si authToken change → popup réagit immédiatement, sans polling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1325880"/>
            <a:ext cx="2816352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81344" y="1371600"/>
            <a:ext cx="2816352" cy="3447288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18504" y="1417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C63FF"/>
                </a:solidFill>
              </a:rPr>
              <a:t>🔄  State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8504" y="1837944"/>
            <a:ext cx="2542032" cy="237744"/>
          </a:xfrm>
          <a:prstGeom prst="rect">
            <a:avLst/>
          </a:prstGeom>
          <a:solidFill>
            <a:srgbClr val="0D0F1A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9944" y="183794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</a:rPr>
              <a:t>⭐⭐  Partiel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18504" y="216712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</a:rPr>
              <a:t>Comportement différent selon l'état interne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18504" y="2642616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activeScreen dans Popup.tsx : home · market · save · receive · send · swap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18504" y="3520440"/>
            <a:ext cx="2542032" cy="1188720"/>
          </a:xfrm>
          <a:prstGeom prst="rect">
            <a:avLst/>
          </a:prstGeom>
          <a:solidFill>
            <a:srgbClr val="0D0F1A"/>
          </a:solidFill>
          <a:ln w="12700">
            <a:solidFill>
              <a:srgbClr val="6C63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64224" y="3575304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C63FF"/>
                </a:solidFill>
              </a:rPr>
              <a:t>Ex : Pas de classes d'état GOF formelles — logique d'état UI React. Évolution possible.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Command et Observer sont réellement utilisés. State est présent mais pas GOF complet — honnêteté à l'oral.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6B6B"/>
                </a:solidFill>
              </a:rPr>
              <a:t>PATRON COMMAND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Encapsuler l'action, déléguer l'exécution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8631936" cy="384048"/>
          </a:xfrm>
          <a:prstGeom prst="rect">
            <a:avLst/>
          </a:prstGeom>
          <a:solidFill>
            <a:srgbClr val="200A0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6B6B"/>
                </a:solidFill>
              </a:rPr>
              <a:t>📖  Théorie GOF : encapsuler une demande dans un objet — séparer l'émetteur de l'exécuteur.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1920240" cy="475488"/>
          </a:xfrm>
          <a:prstGeom prst="rect">
            <a:avLst/>
          </a:prstGeom>
          <a:solidFill>
            <a:srgbClr val="141726"/>
          </a:solidFill>
          <a:ln w="1905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" y="1901952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63FF"/>
                </a:solidFill>
              </a:rPr>
              <a:t>🖼️  Popup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2523744"/>
            <a:ext cx="1920240" cy="475488"/>
          </a:xfrm>
          <a:prstGeom prst="rect">
            <a:avLst/>
          </a:prstGeom>
          <a:solidFill>
            <a:srgbClr val="141726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252374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🔍  Content 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76272" y="2139696"/>
            <a:ext cx="658368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76272" y="2377440"/>
            <a:ext cx="658368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34640" y="1810512"/>
            <a:ext cx="2468880" cy="31089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34640" y="1810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Messages = Commandes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121408"/>
            <a:ext cx="2468880" cy="2176272"/>
          </a:xfrm>
          <a:prstGeom prst="rect">
            <a:avLst/>
          </a:prstGeom>
          <a:solidFill>
            <a:srgbClr val="200A0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07792" y="212140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</a:rPr>
              <a:t>LOGIN / LOGOUT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07792" y="243230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</a:rPr>
              <a:t>SAVE_ADDRESS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07792" y="2743200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</a:rPr>
              <a:t>UPDATE_ADDRESS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07792" y="305409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</a:rPr>
              <a:t>DELETE_ADDRESS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07792" y="336499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</a:rPr>
              <a:t>GET_ADDRESSES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07792" y="367588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</a:rPr>
              <a:t>RESTORE_SESSION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07792" y="398678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</a:rPr>
              <a:t>CONFIRM_SAVE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2423160"/>
            <a:ext cx="64008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21808" y="221284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dispatch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0" y="1901952"/>
            <a:ext cx="1920240" cy="457200"/>
          </a:xfrm>
          <a:prstGeom prst="rect">
            <a:avLst/>
          </a:prstGeom>
          <a:solidFill>
            <a:srgbClr val="0A2020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0" y="1901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🔄  Background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Service Worker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2130552"/>
            <a:ext cx="768096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36992" y="1901952"/>
            <a:ext cx="950976" cy="457200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36992" y="1901952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API 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/ DB ✅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4041648"/>
            <a:ext cx="8631936" cy="594360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4041648"/>
            <a:ext cx="8375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</a:rPr>
              <a:t>Exemple concret : Popup envoie SAVE_ADDRESS → Background reçoit → appelle POST /addresses/from-extension → liste rechargée via GET_ADDRESSES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Le popup ne sait pas comment l'action est exécutée — il envoie un message, le background décide.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D4AA"/>
                </a:solidFill>
              </a:rPr>
              <a:t>PATRON OBSERVER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Réagir automatiquement aux événements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8631936" cy="384048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D4AA"/>
                </a:solidFill>
              </a:rPr>
              <a:t>📖  Théorie GOF : un Sujet notifie automatiquement ses Observateurs quand son état change.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8631936" cy="292608"/>
          </a:xfrm>
          <a:prstGeom prst="rect">
            <a:avLst/>
          </a:prstGeom>
          <a:solidFill>
            <a:srgbClr val="0A1A14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019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Cas 1 — chrome.runtime.onMessage.addListener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2286000"/>
            <a:ext cx="1920240" cy="438912"/>
          </a:xfrm>
          <a:prstGeom prst="rect">
            <a:avLst/>
          </a:prstGeom>
          <a:solidFill>
            <a:srgbClr val="141726"/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2286000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</a:rPr>
              <a:t>🖼️  Popup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</a:rPr>
              <a:t>(Sujet)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834640"/>
            <a:ext cx="1920240" cy="438912"/>
          </a:xfrm>
          <a:prstGeom prst="rect">
            <a:avLst/>
          </a:prstGeom>
          <a:solidFill>
            <a:srgbClr val="141726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" y="2834640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🔍  Content 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(Sujet)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6272" y="2450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4"/>
                </a:solidFill>
              </a:rPr>
              <a:t>envoient message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76272" y="2505456"/>
            <a:ext cx="128016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76272" y="2944368"/>
            <a:ext cx="128016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56432" y="2286000"/>
            <a:ext cx="2286000" cy="749808"/>
          </a:xfrm>
          <a:prstGeom prst="rect">
            <a:avLst/>
          </a:prstGeom>
          <a:solidFill>
            <a:srgbClr val="0A2020"/>
          </a:solidFill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9584" y="2286000"/>
            <a:ext cx="21396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🔄  Background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(Observateur)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onMessage.addListener()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42432" y="2651760"/>
            <a:ext cx="658368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2487168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73952" y="237744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Réagit selon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le type de message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255264"/>
            <a:ext cx="8631936" cy="292608"/>
          </a:xfrm>
          <a:prstGeom prst="rect">
            <a:avLst/>
          </a:prstGeom>
          <a:solidFill>
            <a:srgbClr val="0A1A14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25526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</a:rPr>
              <a:t>Cas 2 — chrome.storage.onChanged.addListener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3639312"/>
            <a:ext cx="1920240" cy="658368"/>
          </a:xfrm>
          <a:prstGeom prst="rect">
            <a:avLst/>
          </a:prstGeom>
          <a:solidFill>
            <a:srgbClr val="14172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" y="3639312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💾  chrome.storage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.session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(Sujet)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76272" y="3767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4"/>
                </a:solidFill>
              </a:rPr>
              <a:t>authToken change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76272" y="3968496"/>
            <a:ext cx="1280160" cy="0"/>
          </a:xfrm>
          <a:prstGeom prst="line">
            <a:avLst/>
          </a:prstGeom>
          <a:noFill/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56432" y="3639312"/>
            <a:ext cx="2286000" cy="658368"/>
          </a:xfrm>
          <a:prstGeom prst="rect">
            <a:avLst/>
          </a:prstGeom>
          <a:solidFill>
            <a:srgbClr val="100A30"/>
          </a:solidFill>
          <a:ln w="254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29584" y="3639312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</a:rPr>
              <a:t>🖼️  Popup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</a:rPr>
              <a:t>(Observateur)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</a:rPr>
              <a:t>onChanged.addListener()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42432" y="3968496"/>
            <a:ext cx="658368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3712464"/>
            <a:ext cx="2487168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73952" y="3712464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Met à jour l'UI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automatiquement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L'extension réagit automatiquement aux événements — sans polling, sans couplage direct.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C63FF"/>
                </a:solidFill>
              </a:rPr>
              <a:t>PATRON STATE &amp; ANALYSE CRITIQUE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State implicite — analyse honnête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8631936" cy="347472"/>
          </a:xfrm>
          <a:prstGeom prst="rect">
            <a:avLst/>
          </a:prstGeom>
          <a:solidFill>
            <a:srgbClr val="100A3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C63FF"/>
                </a:solidFill>
              </a:rPr>
              <a:t>📖  Théorie GOF : un objet change de comportement selon son état interne — via des classes d'état dédiées.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581912"/>
            <a:ext cx="3931920" cy="182880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581912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C63FF"/>
                </a:solidFill>
              </a:rPr>
              <a:t>activeScreen  (Popup.tsx)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792224"/>
            <a:ext cx="1234440" cy="502920"/>
          </a:xfrm>
          <a:prstGeom prst="rect">
            <a:avLst/>
          </a:prstGeom>
          <a:solidFill>
            <a:srgbClr val="141726"/>
          </a:solidFill>
          <a:ln w="19050">
            <a:solidFill>
              <a:srgbClr val="8892A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1792224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92A4"/>
                </a:solidFill>
              </a:rPr>
              <a:t>home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00200" y="2514600"/>
            <a:ext cx="1234440" cy="502920"/>
          </a:xfrm>
          <a:prstGeom prst="rect">
            <a:avLst/>
          </a:prstGeom>
          <a:solidFill>
            <a:srgbClr val="141726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55064" y="2514600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</a:rPr>
              <a:t>market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00200" y="1792224"/>
            <a:ext cx="1234440" cy="502920"/>
          </a:xfrm>
          <a:prstGeom prst="rect">
            <a:avLst/>
          </a:prstGeom>
          <a:solidFill>
            <a:srgbClr val="141726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55064" y="1792224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save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44368" y="1792224"/>
            <a:ext cx="1234440" cy="502920"/>
          </a:xfrm>
          <a:prstGeom prst="rect">
            <a:avLst/>
          </a:prstGeom>
          <a:solidFill>
            <a:srgbClr val="141726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99232" y="1792224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</a:rPr>
              <a:t>receive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44368" y="2514600"/>
            <a:ext cx="1234440" cy="502920"/>
          </a:xfrm>
          <a:prstGeom prst="rect">
            <a:avLst/>
          </a:prstGeom>
          <a:solidFill>
            <a:srgbClr val="141726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99232" y="2514600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</a:rPr>
              <a:t>send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44368" y="3236976"/>
            <a:ext cx="1234440" cy="502920"/>
          </a:xfrm>
          <a:prstGeom prst="rect">
            <a:avLst/>
          </a:prstGeom>
          <a:solidFill>
            <a:srgbClr val="141726"/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99232" y="3236976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swap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90472" y="2043684"/>
            <a:ext cx="109728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90472" y="2043684"/>
            <a:ext cx="109728" cy="722376"/>
          </a:xfrm>
          <a:prstGeom prst="line">
            <a:avLst/>
          </a:prstGeom>
          <a:noFill/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34640" y="2043684"/>
            <a:ext cx="109728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34640" y="2043684"/>
            <a:ext cx="109728" cy="722376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834640" y="2043684"/>
            <a:ext cx="109728" cy="144475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78992" y="3017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4"/>
                </a:solidFill>
              </a:rPr>
              <a:t>saveReturnScreen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892A4"/>
                </a:solidFill>
              </a:rPr>
              <a:t>mémorise l'origine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1581912"/>
            <a:ext cx="4407408" cy="219456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1581912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</a:rPr>
              <a:t>Analyse critique des 3 patterns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1883664"/>
            <a:ext cx="64008" cy="8229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44568" y="1883664"/>
            <a:ext cx="4343400" cy="82296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45152" y="193852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Command  ⭐⭐⭐ Convaincant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45152" y="2249424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Messages typés + dispatch central — mécanisme équivalent au GOF, même sans classe Command formelle.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2843784"/>
            <a:ext cx="64008" cy="8229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44568" y="2843784"/>
            <a:ext cx="4343400" cy="82296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45152" y="289864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Observer  ⭐⭐⭐ Convaincant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45152" y="3209544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onMessage + onChanged — sujet-observateur via API Chrome, logique identique au patron.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3803904"/>
            <a:ext cx="64008" cy="82296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44568" y="3803904"/>
            <a:ext cx="4343400" cy="82296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45152" y="385876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63FF"/>
                </a:solidFill>
              </a:rPr>
              <a:t>State  ⭐⭐ Partiel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45152" y="4169664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activeScreen pilote l'UI mais pas de classes d'état dédiées. Évolution possible vers machine d'états.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Être honnête à l'oral — Command et Observer sont réels, State est présent mais pas complet au sens GOF.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D4AA"/>
                </a:solidFill>
              </a:rPr>
              <a:t>CLEAN CODE &amp; REFACTORING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Points forts · Code smells · Améliorations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114800" cy="292608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✅  Points forts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664208"/>
            <a:ext cx="4114800" cy="38404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664208"/>
            <a:ext cx="54864" cy="38404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664208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Architecture backend en couches (SRP respecté)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121408"/>
            <a:ext cx="4114800" cy="38404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121408"/>
            <a:ext cx="54864" cy="38404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121408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Composants UI partagés : Button, Modal, Loader…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578608"/>
            <a:ext cx="4114800" cy="38404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578608"/>
            <a:ext cx="54864" cy="38404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578608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UpdateNameForm + ChangePasswordForm réutilisés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3035808"/>
            <a:ext cx="4114800" cy="38404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3035808"/>
            <a:ext cx="54864" cy="38404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035808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Validation centralisée Zod + middleware d'erreur global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0288" y="1298448"/>
            <a:ext cx="4297680" cy="292608"/>
          </a:xfrm>
          <a:prstGeom prst="rect">
            <a:avLst/>
          </a:prstGeom>
          <a:solidFill>
            <a:srgbClr val="200A0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0016" y="1298448"/>
            <a:ext cx="4078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⚠️  Code smells → Refactoring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0288" y="1664208"/>
            <a:ext cx="4297680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90288" y="1664208"/>
            <a:ext cx="54864" cy="5669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18304" y="1682496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DashboardPage + AddressesPage (logique dupliquée)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1956816"/>
            <a:ext cx="4078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→ Hook useAddresses()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90288" y="2322576"/>
            <a:ext cx="4297680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90288" y="2322576"/>
            <a:ext cx="54864" cy="5669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2340864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AddAddressModal + EditAddressModal (formulaire similaire)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18304" y="2615184"/>
            <a:ext cx="4078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→ AddressFormModal (mode create/edit)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90288" y="2980944"/>
            <a:ext cx="4297680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90288" y="2980944"/>
            <a:ext cx="54864" cy="56692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18304" y="2999232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Popup.tsx ~1736 lignes (God Component)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3273552"/>
            <a:ext cx="4078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→ Hooks useSession, useAddresses + composants écrans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90288" y="3639312"/>
            <a:ext cx="4297680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90288" y="3639312"/>
            <a:ext cx="54864" cy="56692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18304" y="3657600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background.ts ~800 lignes (trop de responsabilités)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3931920"/>
            <a:ext cx="4078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→ Modules session / API / handlers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4389120"/>
            <a:ext cx="8631936" cy="310896"/>
          </a:xfrm>
          <a:prstGeom prst="rect">
            <a:avLst/>
          </a:prstGeom>
          <a:solidFill>
            <a:srgbClr val="14172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4048" y="4389120"/>
            <a:ext cx="8375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SRP · DRY · Modularité · Faible couplage — bien appliqués en architecture globale, à renforcer dans les gros composants.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Identifier les smells et proposer des refactorings concrets — c'est la posture d'un ingénieur logiciel.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78BFA"/>
                </a:solidFill>
              </a:rPr>
              <a:t>PRINCIPES DE CONCEPTION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SRP · DRY · Modularité · Couplage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2084832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08176"/>
            <a:ext cx="2084832" cy="3520440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C63FF"/>
                </a:solidFill>
              </a:rPr>
              <a:t>🎯  SRP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Single Responsibility Principle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201168" cy="2011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Backend bien découpé : routes, controllers, services, Prisma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55264"/>
            <a:ext cx="201168" cy="20116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⚠️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Popup.tsx et background.ts concentrent plusieurs responsabilités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133088"/>
            <a:ext cx="1865376" cy="676656"/>
          </a:xfrm>
          <a:prstGeom prst="rect">
            <a:avLst/>
          </a:prstGeom>
          <a:solidFill>
            <a:srgbClr val="0D0F1A"/>
          </a:solidFill>
          <a:ln w="12700">
            <a:solidFill>
              <a:srgbClr val="6C63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4133088"/>
            <a:ext cx="1755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63FF"/>
                </a:solidFill>
              </a:rPr>
              <a:t>→ Extraire en hooks et modules spécialisés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1353312"/>
            <a:ext cx="2084832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68880" y="1408176"/>
            <a:ext cx="2084832" cy="3520440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78608" y="14630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4AA"/>
                </a:solidFill>
              </a:rPr>
              <a:t>♻️  DRY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78608" y="18105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Don't Repeat Yourself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78608" y="2157984"/>
            <a:ext cx="201168" cy="2011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78608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78608" y="2377440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Composants UI partagés (Button, Modal, Loader…)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UpdateNameForm + ChangePasswordForm réutilisés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78608" y="3255264"/>
            <a:ext cx="201168" cy="20116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78608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⚠️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78608" y="34747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Dashboard/AddressesPage + Add/EditModal : logique dupliquée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78608" y="4133088"/>
            <a:ext cx="1865376" cy="676656"/>
          </a:xfrm>
          <a:prstGeom prst="rect">
            <a:avLst/>
          </a:prstGeom>
          <a:solidFill>
            <a:srgbClr val="0D0F1A"/>
          </a:solidFill>
          <a:ln w="12700">
            <a:solidFill>
              <a:srgbClr val="00D4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33472" y="4133088"/>
            <a:ext cx="1755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4AA"/>
                </a:solidFill>
              </a:rPr>
              <a:t>→ Hook useAddresses + composant AddressFormModal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81728" y="1353312"/>
            <a:ext cx="2084832" cy="54864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81728" y="1408176"/>
            <a:ext cx="2084832" cy="3520440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91456" y="14630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D700"/>
                </a:solidFill>
              </a:rPr>
              <a:t>🧩  Modularité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1456" y="18105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Séparation en modules cohésifs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91456" y="2157984"/>
            <a:ext cx="201168" cy="2011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91456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91456" y="2377440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Frontend / Backend / Extension / Market séparés et indépendants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91456" y="3255264"/>
            <a:ext cx="201168" cy="20116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91456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⚠️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91456" y="34747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À l'intérieur des gros fichiers : monolithisme local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91456" y="4133088"/>
            <a:ext cx="1865376" cy="676656"/>
          </a:xfrm>
          <a:prstGeom prst="rect">
            <a:avLst/>
          </a:prstGeom>
          <a:solidFill>
            <a:srgbClr val="0D0F1A"/>
          </a:solidFill>
          <a:ln w="12700">
            <a:solidFill>
              <a:srgbClr val="FFD7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4133088"/>
            <a:ext cx="1755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D700"/>
                </a:solidFill>
              </a:rPr>
              <a:t>→ Décomposer Popup.tsx et background.ts en sous-modules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94576" y="1353312"/>
            <a:ext cx="2084832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94576" y="1408176"/>
            <a:ext cx="2084832" cy="3520440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04304" y="14630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6B"/>
                </a:solidFill>
              </a:rPr>
              <a:t>🔗  Faible couplage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04304" y="18105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Loose Coupling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04304" y="2157984"/>
            <a:ext cx="201168" cy="2011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04304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04304" y="2377440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Frontend ↔ Backend ↔ Extension découplés via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04304" y="3255264"/>
            <a:ext cx="201168" cy="20116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04304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⚠️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04304" y="34747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Certains composants concentrent trop d'interactions directes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04304" y="4133088"/>
            <a:ext cx="1865376" cy="676656"/>
          </a:xfrm>
          <a:prstGeom prst="rect">
            <a:avLst/>
          </a:prstGeom>
          <a:solidFill>
            <a:srgbClr val="0D0F1A"/>
          </a:solidFill>
          <a:ln w="12700">
            <a:solidFill>
              <a:srgbClr val="FF6B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059168" y="4133088"/>
            <a:ext cx="1755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</a:rPr>
              <a:t>→ Passer par des contextes ou des hooks dédiés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6B6B"/>
                </a:solidFill>
              </a:rPr>
              <a:t>TESTING &amp; LIMITES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Stratégie de test · Auto-évaluation honnête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937760" cy="274320"/>
          </a:xfrm>
          <a:prstGeom prst="rect">
            <a:avLst/>
          </a:prstGeom>
          <a:solidFill>
            <a:srgbClr val="0A202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🧪  Stratégie de test proposée (4 niveaux)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645920"/>
            <a:ext cx="329184" cy="56692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64592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F1A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" y="1645920"/>
            <a:ext cx="4608576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16824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Tests unitaires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A4"/>
                </a:solidFill>
              </a:rPr>
              <a:t>🛠️ Vitest / Jest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05456" y="168249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Validateurs adresses · doublons · statut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322576"/>
            <a:ext cx="329184" cy="56692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232257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F1A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" y="2322576"/>
            <a:ext cx="4608576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2359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</a:rPr>
              <a:t>Tests d'intégration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A4"/>
                </a:solidFill>
              </a:rPr>
              <a:t>🛠️ Supertest + Jest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05456" y="2359152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Routes auth · addresses · admin · middlewares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999232"/>
            <a:ext cx="329184" cy="56692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2999232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F1A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" y="2999232"/>
            <a:ext cx="4608576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" y="3035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Tests système E2E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3291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A4"/>
                </a:solidFill>
              </a:rPr>
              <a:t>🛠️ Playwright / Cypress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05456" y="303580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Login → Dashboard → CRUD → Logout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675888"/>
            <a:ext cx="329184" cy="566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" y="367588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F1A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" y="3675888"/>
            <a:ext cx="4608576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" y="3712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Tests extension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A4"/>
                </a:solidFill>
              </a:rPr>
              <a:t>🛠️ chrome.runtime mock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05456" y="3712464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Messaging · content script · background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1298448"/>
            <a:ext cx="3493008" cy="274320"/>
          </a:xfrm>
          <a:prstGeom prst="rect">
            <a:avLst/>
          </a:prstGeom>
          <a:solidFill>
            <a:srgbClr val="200A0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04688" y="1298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⚠️  Limites identifiées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4960" y="1645920"/>
            <a:ext cx="329184" cy="5669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94960" y="164592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F1A"/>
                </a:solidFill>
              </a:rPr>
              <a:t>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24144" y="1645920"/>
            <a:ext cx="3163824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15584" y="168249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Pas de tests automatisés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15584" y="1975104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🔴 Élevé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2322576"/>
            <a:ext cx="329184" cy="56692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94960" y="232257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F1A"/>
                </a:solidFill>
              </a:rPr>
              <a:t>02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24144" y="2322576"/>
            <a:ext cx="3163824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15584" y="235915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Pagination côté UI uniquement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15584" y="265176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</a:rPr>
              <a:t>🟡 Moyen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94960" y="2999232"/>
            <a:ext cx="329184" cy="56692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394960" y="2999232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F1A"/>
                </a:solidFill>
              </a:rPr>
              <a:t>03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24144" y="2999232"/>
            <a:ext cx="3163824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815584" y="303580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AdminLog non exploité en backend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15584" y="3328416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</a:rPr>
              <a:t>🟡 Moyen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3675888"/>
            <a:ext cx="32918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94960" y="367588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F1A"/>
                </a:solidFill>
              </a:rPr>
              <a:t>04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24144" y="3675888"/>
            <a:ext cx="3163824" cy="5669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815584" y="37124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Détection → popup non finalisée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815584" y="400507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🟢 Faible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6032" y="4407408"/>
            <a:ext cx="8631936" cy="310896"/>
          </a:xfrm>
          <a:prstGeom prst="rect">
            <a:avLst/>
          </a:prstGeom>
          <a:solidFill>
            <a:srgbClr val="14172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4048" y="4407408"/>
            <a:ext cx="8375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💡  EZ-CRYPT0 contient des règles de validation réelles et une base solide pour construire une suite de tests complète.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Comprendre les tests même sans les avoir tous implémentés — c'est montrer une vraie posture qualité.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C63FF"/>
                </a:solidFill>
              </a:rPr>
              <a:t>STRATÉGIE DE TEST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4 niveaux de test pour EZ-CRYPT0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347472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F1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" y="1325880"/>
            <a:ext cx="1737360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3258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AA"/>
                </a:solidFill>
              </a:rPr>
              <a:t>Tests unitaires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673352"/>
            <a:ext cx="2084832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67335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🛠️  Vitest / Jest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929384"/>
            <a:ext cx="2084832" cy="2798064"/>
          </a:xfrm>
          <a:prstGeom prst="rect">
            <a:avLst/>
          </a:prstGeom>
          <a:solidFill>
            <a:srgbClr val="141726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020824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202082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Validateurs d'adresses (BTC, ETH, ADA, TON…)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269748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Détection et normalisation de type crypto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3374136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Logique métier : doublons, statut utilisateur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50792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405079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Association user → address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1325880"/>
            <a:ext cx="347472" cy="347472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F1A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16352" y="1325880"/>
            <a:ext cx="1737360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71216" y="13258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63FF"/>
                </a:solidFill>
              </a:rPr>
              <a:t>Tests d'intégration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1673352"/>
            <a:ext cx="2084832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60320" y="167335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🛠️  Supertest + Jest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1929384"/>
            <a:ext cx="2084832" cy="2798064"/>
          </a:xfrm>
          <a:prstGeom prst="rect">
            <a:avLst/>
          </a:prstGeom>
          <a:solidFill>
            <a:srgbClr val="141726"/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78608" y="2020824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33472" y="202082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Routes /auth : register, login, refresh, /me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78608" y="2697480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33472" y="269748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Routes /addresses : CRUD + contrainte unicité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608" y="3374136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33472" y="3374136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Routes /admin : accès, gestion users, statut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78608" y="4050792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33472" y="405079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Middlewares : auth, requireRole, validateBody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81728" y="1325880"/>
            <a:ext cx="347472" cy="347472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81728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F1A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29200" y="1325880"/>
            <a:ext cx="1737360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84064" y="13258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</a:rPr>
              <a:t>Tests système (E2E)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81728" y="1673352"/>
            <a:ext cx="2084832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73168" y="167335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🛠️  Playwright / Cypress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81728" y="1929384"/>
            <a:ext cx="2084832" cy="2798064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91456" y="2020824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46320" y="202082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Login → Dashboard → Ajout adresse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91456" y="2697480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269748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Modification + Suppression d'adresse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91456" y="3374136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3374136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Connexion admin → Gestion utilisateurs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91456" y="4050792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405079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Redirection selon le rôle (USER / ADMIN)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94576" y="1325880"/>
            <a:ext cx="347472" cy="34747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94576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F1A"/>
                </a:solidFill>
              </a:rPr>
              <a:t>4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242048" y="1325880"/>
            <a:ext cx="1737360" cy="347472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296912" y="13258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</a:rPr>
              <a:t>Tests extension Chrome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94576" y="1673352"/>
            <a:ext cx="2084832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86016" y="167335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2A4"/>
                </a:solidFill>
              </a:rPr>
              <a:t>🛠️  chrome.runtime mock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94576" y="1929384"/>
            <a:ext cx="2084832" cy="2798064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004304" y="2020824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59168" y="202082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Messaging : SAVE_ADDRESS, GET_ADDRESSES…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04304" y="2697480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59168" y="269748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Content script : détection regex par type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004304" y="3374136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059168" y="3374136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Background : restauration session + API calls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004304" y="4050792"/>
            <a:ext cx="1865376" cy="566928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059168" y="405079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· Popup : transitions d'écran activeScreen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4 niveaux couvrent tout le système — du validateur isolé au parcours utilisateur complet.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23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D700"/>
                </a:solidFill>
              </a:rPr>
              <a:t>CAS DE TEST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Normal · Limite · Invalide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834640" cy="310896"/>
          </a:xfrm>
          <a:prstGeom prst="rect">
            <a:avLst/>
          </a:prstGeom>
          <a:solidFill>
            <a:srgbClr val="141726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</a:rPr>
              <a:t>✅  Cas normaux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5264" y="1298448"/>
            <a:ext cx="2834640" cy="310896"/>
          </a:xfrm>
          <a:prstGeom prst="rect">
            <a:avLst/>
          </a:prstGeom>
          <a:solidFill>
            <a:srgbClr val="141726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46704" y="12984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</a:rPr>
              <a:t>⚠️  Cas limites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8192" y="1298448"/>
            <a:ext cx="2834640" cy="310896"/>
          </a:xfrm>
          <a:prstGeom prst="rect">
            <a:avLst/>
          </a:prstGeom>
          <a:solidFill>
            <a:srgbClr val="141726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9632" y="12984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❌  Cas invalides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1682496"/>
            <a:ext cx="2834640" cy="2194560"/>
          </a:xfrm>
          <a:prstGeom prst="rect">
            <a:avLst/>
          </a:prstGeom>
          <a:solidFill>
            <a:srgbClr val="141726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Login avec email + password corrects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76272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176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Création d'une adresse BTC valide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5968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Liste des adresses de l'utilisateur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Admin crée un compte administrateur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34381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Modification d'une adresse existante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55264" y="1682496"/>
            <a:ext cx="2834640" cy="2194560"/>
          </a:xfrm>
          <a:prstGeom prst="rect">
            <a:avLst/>
          </a:prstGeom>
          <a:solidFill>
            <a:srgbClr val="141726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64992" y="1755648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38144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Label vide mais adresse valide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64992" y="2176272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38144" y="2176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Password à longueur minimale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2596896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38144" y="25968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Liste d'adresses vide (0 résultats)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64992" y="3017520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38144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Un seul résultat après filtre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64992" y="3438144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38144" y="34381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Token expiré → refresh automatique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08192" y="1682496"/>
            <a:ext cx="2834640" cy="2615184"/>
          </a:xfrm>
          <a:prstGeom prst="rect">
            <a:avLst/>
          </a:prstGeom>
          <a:solidFill>
            <a:srgbClr val="141726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17920" y="1755648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91072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Login avec mot de passe incorrect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176272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91072" y="2176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Adresse BTC invalide (format erroné)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2596896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91072" y="25968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Doublon : même adresse + type + user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017520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91072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Accès adresse d'un autre utilisateur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3438144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91072" y="34381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User accède à /admin → redirigé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858768"/>
            <a:ext cx="2615184" cy="347472"/>
          </a:xfrm>
          <a:prstGeom prst="rect">
            <a:avLst/>
          </a:prstGeom>
          <a:solidFill>
            <a:srgbClr val="0D0F1A"/>
          </a:solidFill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91072" y="3858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Compte DISABLED → accès refusé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" y="4224528"/>
            <a:ext cx="8631936" cy="512064"/>
          </a:xfrm>
          <a:prstGeom prst="rect">
            <a:avLst/>
          </a:prstGeom>
          <a:solidFill>
            <a:srgbClr val="141726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84048" y="422452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8BFA"/>
                </a:solidFill>
              </a:rPr>
              <a:t>🧪  Pattern AAA — Exemple : login compte DISABLED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041648" y="4224528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</a:rPr>
              <a:t>Arrange : créer user DISABLED  |  Act : POST /auth/login  |  Assert : réponse 403 + message 'Account is disabled'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Message clé : Ces cas correspondent directement aux règles métier visibles dans le code — ils sont testables aujourd'hui.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F1A"/>
                </a:solidFill>
              </a:rPr>
              <a:t>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C55E"/>
                </a:solidFill>
              </a:rPr>
              <a:t>BILAN &amp; COMPÉTENCES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Ce que ce projet m'a appris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2816352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08176"/>
            <a:ext cx="2816352" cy="1426464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956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AA"/>
                </a:solidFill>
              </a:rPr>
              <a:t>Architecture full-stack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Concevoir et implémenter un système en couches : frontend · backend · BDD · extension · API tierce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1353312"/>
            <a:ext cx="2816352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408176"/>
            <a:ext cx="2816352" cy="1426464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28416" y="1956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</a:rPr>
              <a:t>Sécurité applicative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23042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JWT · cookies httpOnly · requireRole · Zod · Helmet · CORS · rate-limit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353312"/>
            <a:ext cx="28163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81344" y="1408176"/>
            <a:ext cx="2816352" cy="1426464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91072" y="1956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</a:rPr>
              <a:t>Développement d'extension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072" y="23042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MV3 · messaging Chrome · content script · background service worker · chrome.storage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926080"/>
            <a:ext cx="2816352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2980944"/>
            <a:ext cx="2816352" cy="1426464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63FF"/>
                </a:solidFill>
              </a:rPr>
              <a:t>Clean code &amp; refactoring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8770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SRP · DRY · modularité · identification des code smells · propositions concrètes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18688" y="2926080"/>
            <a:ext cx="2816352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18688" y="2980944"/>
            <a:ext cx="2816352" cy="1426464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28416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28416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</a:rPr>
              <a:t>Patrons de conception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28416" y="38770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Command · Observer · State — appliqués à un vrai projet, analysés avec rigueur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81344" y="2926080"/>
            <a:ext cx="2816352" cy="54864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81344" y="2980944"/>
            <a:ext cx="2816352" cy="1426464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9107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91072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</a:rPr>
              <a:t>Qualité logicielle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38770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Stratégie de test · AAA · Define/Execute/Compare · auto-évaluation honnête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EZ-CRYPT0 est plus qu'un projet technique — c'est une démonstration de posture d'ingénieur logiciel.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C63FF"/>
                </a:solidFill>
              </a:rPr>
              <a:t>PERSPECTIVES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8631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Ce que je </a:t>
            </a:r>
            <a:r>
              <a:rPr lang="en-US" sz="3400" b="1" dirty="0" err="1">
                <a:solidFill>
                  <a:srgbClr val="FFFFFF"/>
                </a:solidFill>
              </a:rPr>
              <a:t>ferai</a:t>
            </a:r>
            <a:r>
              <a:rPr lang="en-US" sz="3400" b="1" dirty="0">
                <a:solidFill>
                  <a:srgbClr val="FFFFFF"/>
                </a:solidFill>
              </a:rPr>
              <a:t> ensuite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2816352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08176"/>
            <a:ext cx="2816352" cy="14813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77824" y="1481328"/>
            <a:ext cx="1737360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1481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Priorité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751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Suite de tests automatisés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3225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Vitest / Supertest / Playwright — couvrir validateurs, routes, parcours E2E et extension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353312"/>
            <a:ext cx="2816352" cy="54864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8688" y="1408176"/>
            <a:ext cx="2816352" cy="14813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8416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840480" y="1481328"/>
            <a:ext cx="1737360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0" y="1481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</a:rPr>
              <a:t>Priorité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28416" y="19751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</a:rPr>
              <a:t>Pagination backend native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28416" y="23225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Paramètres page + limit dans getAddresses() et getUsers() pour les performances à l'échelle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1344" y="1353312"/>
            <a:ext cx="2816352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1344" y="1408176"/>
            <a:ext cx="2816352" cy="14813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9107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03136" y="1481328"/>
            <a:ext cx="1737360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94576" y="1481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Priorité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91072" y="19751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</a:rPr>
              <a:t>AdminLog opérationnel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3225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Alimenter le journal d'administration depuis les services — traçabilité complète des actions admin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2980944"/>
            <a:ext cx="28163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3035808"/>
            <a:ext cx="2816352" cy="14813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77824" y="3108960"/>
            <a:ext cx="1737360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9264" y="3108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Priorité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6027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</a:rPr>
              <a:t>Flux détection → popup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39502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Intégrer lastDetectedAddress visuellement dans le popup pour une UX de détection complète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18688" y="2980944"/>
            <a:ext cx="2816352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18688" y="3035808"/>
            <a:ext cx="2816352" cy="14813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28416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3840480" y="3108960"/>
            <a:ext cx="1737360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931920" y="3108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</a:rPr>
              <a:t>Long terme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28416" y="36027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Version mobile (React Native)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28416" y="39502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Extension de la plateforme web vers une application mobile cross-platform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81344" y="2980944"/>
            <a:ext cx="2816352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81344" y="3035808"/>
            <a:ext cx="2816352" cy="1481328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91072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803136" y="3108960"/>
            <a:ext cx="1737360" cy="256032"/>
          </a:xfrm>
          <a:prstGeom prst="rect">
            <a:avLst/>
          </a:prstGeom>
          <a:solidFill>
            <a:srgbClr val="0D0F1A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94576" y="3108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63FF"/>
                </a:solidFill>
              </a:rPr>
              <a:t>Long terme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91072" y="36027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63FF"/>
                </a:solidFill>
              </a:rPr>
              <a:t>Multi-navigateurs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91072" y="39502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</a:rPr>
              <a:t>Portage de l'extension vers Firefox et Edge — élargir la couverture utilisateur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</a:rPr>
              <a:t>💬  Ces améliorations transformeraient EZ-CRYPT0 d'un PFE solide en un produit déployable et robuste.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9260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A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713232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EZ-CRYPT0 est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une vraie solution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d'ingénierie logicielle.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56032" y="2651760"/>
            <a:ext cx="54864" cy="38404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336" y="26517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🏗️  Architecture modulaire — 5 blocs, 1 système cohérent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3127248"/>
            <a:ext cx="54864" cy="38404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312724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🔐  Sécurité multi-couche — JWT, rôles, validation, Helmet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3602736"/>
            <a:ext cx="54864" cy="38404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360273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🧠  Posture d'ingénieur — patterns, clean code, auto-évaluation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640080"/>
            <a:ext cx="2651760" cy="4160520"/>
          </a:xfrm>
          <a:prstGeom prst="rect">
            <a:avLst/>
          </a:prstGeom>
          <a:solidFill>
            <a:srgbClr val="141726"/>
          </a:solidFill>
          <a:ln w="12700">
            <a:solidFill>
              <a:srgbClr val="1E2540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91072" y="76809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296912" y="76809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Composants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techniques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27648" y="1408176"/>
            <a:ext cx="2468880" cy="0"/>
          </a:xfrm>
          <a:prstGeom prst="line">
            <a:avLst/>
          </a:prstGeom>
          <a:noFill/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1072" y="153619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63FF"/>
                </a:solidFill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296912" y="15361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Espaces utilisateur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7648" y="2176272"/>
            <a:ext cx="2468880" cy="0"/>
          </a:xfrm>
          <a:prstGeom prst="line">
            <a:avLst/>
          </a:prstGeom>
          <a:noFill/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23042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00"/>
                </a:solidFill>
              </a:rPr>
              <a:t>11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96912" y="23042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Cryptos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supportées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27648" y="2944368"/>
            <a:ext cx="2468880" cy="0"/>
          </a:xfrm>
          <a:prstGeom prst="line">
            <a:avLst/>
          </a:prstGeom>
          <a:noFill/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91072" y="307238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</a:rPr>
              <a:t>8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296912" y="30723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Messages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d'extension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27648" y="3712464"/>
            <a:ext cx="2468880" cy="0"/>
          </a:xfrm>
          <a:prstGeom prst="line">
            <a:avLst/>
          </a:prstGeom>
          <a:noFill/>
          <a:ln w="12700">
            <a:solidFill>
              <a:srgbClr val="1E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91072" y="3840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6B"/>
                </a:solidFill>
              </a:rPr>
              <a:t>6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296912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Mécanismes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</a:rPr>
              <a:t>de sécurité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4553712"/>
            <a:ext cx="5760720" cy="38404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455371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F1A"/>
                </a:solidFill>
              </a:rPr>
              <a:t>Merci de votre attention — place aux questions.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3121</Words>
  <Application>Microsoft Macintosh PowerPoint</Application>
  <PresentationFormat>On-screen Show (16:9)</PresentationFormat>
  <Paragraphs>678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EZ-CRYPT0 — Soutenance PFE</dc:title>
  <dc:subject>PptxGenJS Presentation</dc:subject>
  <dc:creator>Driss</dc:creator>
  <cp:lastModifiedBy>Driss Laaziri</cp:lastModifiedBy>
  <cp:revision>2</cp:revision>
  <dcterms:created xsi:type="dcterms:W3CDTF">2026-04-28T01:46:45Z</dcterms:created>
  <dcterms:modified xsi:type="dcterms:W3CDTF">2026-04-28T20:14:24Z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e0556-1f76-452e-9e94-03158f226e4e_Enabled">
    <vt:lpwstr>true</vt:lpwstr>
  </property>
  <property fmtid="{D5CDD505-2E9C-101B-9397-08002B2CF9AE}" pid="3" name="MSIP_Label_cdde0556-1f76-452e-9e94-03158f226e4e_SetDate">
    <vt:lpwstr>2026-04-28T20:14:24Z</vt:lpwstr>
  </property>
  <property fmtid="{D5CDD505-2E9C-101B-9397-08002B2CF9AE}" pid="4" name="MSIP_Label_cdde0556-1f76-452e-9e94-03158f226e4e_Method">
    <vt:lpwstr>Standard</vt:lpwstr>
  </property>
  <property fmtid="{D5CDD505-2E9C-101B-9397-08002B2CF9AE}" pid="5" name="MSIP_Label_cdde0556-1f76-452e-9e94-03158f226e4e_Name">
    <vt:lpwstr>Private</vt:lpwstr>
  </property>
  <property fmtid="{D5CDD505-2E9C-101B-9397-08002B2CF9AE}" pid="6" name="MSIP_Label_cdde0556-1f76-452e-9e94-03158f226e4e_SiteId">
    <vt:lpwstr>7015a19d-0dbb-4c31-8709-253cf07f631f</vt:lpwstr>
  </property>
  <property fmtid="{D5CDD505-2E9C-101B-9397-08002B2CF9AE}" pid="7" name="MSIP_Label_cdde0556-1f76-452e-9e94-03158f226e4e_ActionId">
    <vt:lpwstr>08abd229-36c7-4b67-b6bd-b2dab28fba86</vt:lpwstr>
  </property>
  <property fmtid="{D5CDD505-2E9C-101B-9397-08002B2CF9AE}" pid="8" name="MSIP_Label_cdde0556-1f76-452e-9e94-03158f226e4e_ContentBits">
    <vt:lpwstr>0</vt:lpwstr>
  </property>
  <property fmtid="{D5CDD505-2E9C-101B-9397-08002B2CF9AE}" pid="9" name="MSIP_Label_cdde0556-1f76-452e-9e94-03158f226e4e_Tag">
    <vt:lpwstr>50, 3, 0, 1</vt:lpwstr>
  </property>
</Properties>
</file>